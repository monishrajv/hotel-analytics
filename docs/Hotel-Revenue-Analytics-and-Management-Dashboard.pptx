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Lora"/>
      <p:regular r:id="rId15"/>
    </p:embeddedFont>
    <p:embeddedFont>
      <p:font typeface="Lora Bold"/>
      <p:regular r:id="rId16"/>
    </p:embeddedFont>
    <p:embeddedFont>
      <p:font typeface="Source Sans 3"/>
      <p:regular r:id="rId17"/>
    </p:embeddedFont>
    <p:embeddedFont>
      <p:font typeface="Source Sans 3 Bold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svg"/><Relationship Id="rId16" Type="http://schemas.openxmlformats.org/officeDocument/2006/relationships/slideLayout" Target="../slideLayouts/slideLayout5.xml"/><Relationship Id="rId1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696045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Hotel Revenue Analytics &amp; Management Dashboard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577" y="2800424"/>
            <a:ext cx="4667845" cy="64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End-to-end pipeline — Python, PostgreSQL, Power BI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Monish Raj V · GitHub: [Monishrajv/Hotel-analytics] · May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44392" y="437331"/>
            <a:ext cx="4684216" cy="736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Problem: Fragmented Data, Hidden Risks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3944392" y="1330672"/>
            <a:ext cx="4684216" cy="367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Booking data sits in silos — across cities, room classes, and platforms — making it impossible to spot revenue leakage or act on trends.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3944392" y="1816224"/>
            <a:ext cx="4684216" cy="893490"/>
          </a:xfrm>
          <a:prstGeom prst="roundRect">
            <a:avLst>
              <a:gd name="adj" fmla="val 7676"/>
            </a:avLst>
          </a:prstGeom>
          <a:solidFill>
            <a:srgbClr val="252833"/>
          </a:solidFill>
          <a:ln w="14288">
            <a:solidFill>
              <a:srgbClr val="5D606B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0104" y="1816224"/>
            <a:ext cx="57150" cy="8934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26706" y="1955676"/>
            <a:ext cx="1472729" cy="184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Revenue Leakage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4126706" y="2202507"/>
            <a:ext cx="4362450" cy="367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Cancellations erode realized revenue, but root causes are invisible without unified tracking.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3944392" y="2814414"/>
            <a:ext cx="4684216" cy="893490"/>
          </a:xfrm>
          <a:prstGeom prst="roundRect">
            <a:avLst>
              <a:gd name="adj" fmla="val 7676"/>
            </a:avLst>
          </a:prstGeom>
          <a:solidFill>
            <a:srgbClr val="252833"/>
          </a:solidFill>
          <a:ln w="14288">
            <a:solidFill>
              <a:srgbClr val="5D606B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0104" y="2814414"/>
            <a:ext cx="57150" cy="89349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126706" y="2953866"/>
            <a:ext cx="1472729" cy="184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Uneven Occupancy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4126706" y="3200698"/>
            <a:ext cx="4362450" cy="367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Properties perform inconsistently, yet there is no single view to compare or diagnose gaps.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3944392" y="3812604"/>
            <a:ext cx="4684216" cy="893490"/>
          </a:xfrm>
          <a:prstGeom prst="roundRect">
            <a:avLst>
              <a:gd name="adj" fmla="val 7676"/>
            </a:avLst>
          </a:prstGeom>
          <a:solidFill>
            <a:srgbClr val="252833"/>
          </a:solidFill>
          <a:ln w="14288">
            <a:solidFill>
              <a:srgbClr val="5D606B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0104" y="3812604"/>
            <a:ext cx="57150" cy="89349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126706" y="3952056"/>
            <a:ext cx="1472729" cy="184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Unclear Channel Mix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4126706" y="4198888"/>
            <a:ext cx="4362450" cy="367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Platform-level performance is buried in raw data — stakeholders cannot optimize distribution.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0910" y="442764"/>
            <a:ext cx="3592413" cy="391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Datasets &amp; Scope</a:t>
            </a:r>
            <a:endParaRPr lang="en-US" sz="2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910" y="1459260"/>
            <a:ext cx="4932015" cy="27947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12359" y="1131243"/>
            <a:ext cx="2645420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Atliq Hotels — Fictional Multi-City Chain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012359" y="1641723"/>
            <a:ext cx="2645420" cy="1736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60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 cities: Delhi, Mumbai, Bangalore, Hyderabad</a:t>
            </a:r>
            <a:endParaRPr lang="en-US" sz="1000" dirty="0"/>
          </a:p>
          <a:p>
            <a:pPr algn="l" marL="342900" indent="-342900">
              <a:lnSpc>
                <a:spcPct val="1260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25 properties across Luxury and Business segments</a:t>
            </a:r>
            <a:endParaRPr lang="en-US" sz="1000" dirty="0"/>
          </a:p>
          <a:p>
            <a:pPr algn="l" marL="342900" indent="-342900">
              <a:lnSpc>
                <a:spcPct val="1260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~134,573 booking records; May–July 2022 focus</a:t>
            </a:r>
            <a:endParaRPr lang="en-US" sz="1000" dirty="0"/>
          </a:p>
          <a:p>
            <a:pPr algn="l" marL="342900" indent="-342900">
              <a:lnSpc>
                <a:spcPct val="1260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Room types: RT1–RT4 with daily aggregated capacity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012359" y="3497014"/>
            <a:ext cx="2024807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Star Schema Design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012359" y="3811563"/>
            <a:ext cx="2645420" cy="847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6000"/>
              </a:lnSpc>
              <a:buSzPct val="100000"/>
              <a:buChar char="•"/>
            </a:pPr>
            <a:r>
              <a:rPr lang="en-US" sz="10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Fact tables:</a:t>
            </a:r>
            <a:pPr algn="l" marL="342900" indent="-342900">
              <a:lnSpc>
                <a:spcPct val="1260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fact_bookings, fact_aggregated_bookings</a:t>
            </a:r>
            <a:endParaRPr lang="en-US" sz="1000" dirty="0"/>
          </a:p>
          <a:p>
            <a:pPr algn="l" marL="342900" indent="-342900">
              <a:lnSpc>
                <a:spcPct val="126000"/>
              </a:lnSpc>
              <a:buSzPct val="100000"/>
              <a:buChar char="•"/>
            </a:pPr>
            <a:r>
              <a:rPr lang="en-US" sz="10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Dimension tables:</a:t>
            </a:r>
            <a:pPr algn="l" marL="342900" indent="-342900">
              <a:lnSpc>
                <a:spcPct val="1260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dim_hotels, dim_rooms, dim_date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31688"/>
            <a:ext cx="5221039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Methodology: The Analytics Pipeline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4901" y="2064767"/>
            <a:ext cx="4534198" cy="4534198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53817" y="3705411"/>
            <a:ext cx="201960" cy="20196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4901" y="2064767"/>
            <a:ext cx="4534198" cy="4534198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71528" y="2855230"/>
            <a:ext cx="201960" cy="201960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04901" y="2064767"/>
            <a:ext cx="4534198" cy="4534198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470983" y="2530487"/>
            <a:ext cx="201960" cy="201960"/>
          </a:xfrm>
          <a:prstGeom prst="rect">
            <a:avLst/>
          </a:prstGeom>
        </p:spPr>
      </p:pic>
      <p:pic>
        <p:nvPicPr>
          <p:cNvPr id="9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04901" y="2064767"/>
            <a:ext cx="4534198" cy="4534198"/>
          </a:xfrm>
          <a:prstGeom prst="rect">
            <a:avLst/>
          </a:prstGeom>
        </p:spPr>
      </p:pic>
      <p:pic>
        <p:nvPicPr>
          <p:cNvPr id="10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70364" y="2855230"/>
            <a:ext cx="201960" cy="201960"/>
          </a:xfrm>
          <a:prstGeom prst="rect">
            <a:avLst/>
          </a:prstGeom>
        </p:spPr>
      </p:pic>
      <p:pic>
        <p:nvPicPr>
          <p:cNvPr id="11" name="Image 8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04901" y="2064767"/>
            <a:ext cx="4534198" cy="4534198"/>
          </a:xfrm>
          <a:prstGeom prst="rect">
            <a:avLst/>
          </a:prstGeom>
        </p:spPr>
      </p:pic>
      <p:pic>
        <p:nvPicPr>
          <p:cNvPr id="12" name="Image 9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088075" y="3705411"/>
            <a:ext cx="201960" cy="201960"/>
          </a:xfrm>
          <a:prstGeom prst="rect">
            <a:avLst/>
          </a:prstGeom>
        </p:spPr>
      </p:pic>
      <p:sp>
        <p:nvSpPr>
          <p:cNvPr id="13" name="Text 1"/>
          <p:cNvSpPr/>
          <p:nvPr/>
        </p:nvSpPr>
        <p:spPr>
          <a:xfrm>
            <a:off x="523577" y="4439543"/>
            <a:ext cx="8554045" cy="172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Each phase builds on the last — clean data in, trusted insights out.</a:t>
            </a:r>
            <a:endParaRPr lang="en-US" sz="900" dirty="0"/>
          </a:p>
        </p:txBody>
      </p:sp>
      <p:sp>
        <p:nvSpPr>
          <p:cNvPr id="14" name="Text 2"/>
          <p:cNvSpPr/>
          <p:nvPr/>
        </p:nvSpPr>
        <p:spPr>
          <a:xfrm>
            <a:off x="557436" y="2015058"/>
            <a:ext cx="1408063" cy="17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Phase 1 — Profile</a:t>
            </a:r>
            <a:endParaRPr lang="en-US" sz="1100" dirty="0"/>
          </a:p>
        </p:txBody>
      </p:sp>
      <p:sp>
        <p:nvSpPr>
          <p:cNvPr id="15" name="Text 3"/>
          <p:cNvSpPr/>
          <p:nvPr/>
        </p:nvSpPr>
        <p:spPr>
          <a:xfrm>
            <a:off x="523577" y="2248495"/>
            <a:ext cx="1475780" cy="516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Jupyter: nulls, types, anomalies (e.g., negative guests)</a:t>
            </a:r>
            <a:endParaRPr lang="en-US" sz="900" dirty="0"/>
          </a:p>
        </p:txBody>
      </p:sp>
      <p:sp>
        <p:nvSpPr>
          <p:cNvPr id="16" name="Text 4"/>
          <p:cNvSpPr/>
          <p:nvPr/>
        </p:nvSpPr>
        <p:spPr>
          <a:xfrm>
            <a:off x="2212702" y="1507257"/>
            <a:ext cx="1408063" cy="17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Phase 2 — Clean</a:t>
            </a:r>
            <a:endParaRPr lang="en-US" sz="1100" dirty="0"/>
          </a:p>
        </p:txBody>
      </p:sp>
      <p:sp>
        <p:nvSpPr>
          <p:cNvPr id="17" name="Text 5"/>
          <p:cNvSpPr/>
          <p:nvPr/>
        </p:nvSpPr>
        <p:spPr>
          <a:xfrm>
            <a:off x="2178844" y="1740694"/>
            <a:ext cx="1475780" cy="344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Date parsing, revenue fixes, capacity imputation, exports</a:t>
            </a:r>
            <a:endParaRPr lang="en-US" sz="900" dirty="0"/>
          </a:p>
        </p:txBody>
      </p:sp>
      <p:sp>
        <p:nvSpPr>
          <p:cNvPr id="18" name="Text 6"/>
          <p:cNvSpPr/>
          <p:nvPr/>
        </p:nvSpPr>
        <p:spPr>
          <a:xfrm>
            <a:off x="3867969" y="1075209"/>
            <a:ext cx="1408063" cy="17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Phase 3 — Load</a:t>
            </a:r>
            <a:endParaRPr lang="en-US" sz="1100" dirty="0"/>
          </a:p>
        </p:txBody>
      </p:sp>
      <p:sp>
        <p:nvSpPr>
          <p:cNvPr id="19" name="Text 7"/>
          <p:cNvSpPr/>
          <p:nvPr/>
        </p:nvSpPr>
        <p:spPr>
          <a:xfrm>
            <a:off x="3834110" y="1308646"/>
            <a:ext cx="1475780" cy="516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PostgreSQL: ALTER types, PK/FK, repaired dim_date April gaps</a:t>
            </a:r>
            <a:endParaRPr lang="en-US" sz="900" dirty="0"/>
          </a:p>
        </p:txBody>
      </p:sp>
      <p:sp>
        <p:nvSpPr>
          <p:cNvPr id="20" name="Text 8"/>
          <p:cNvSpPr/>
          <p:nvPr/>
        </p:nvSpPr>
        <p:spPr>
          <a:xfrm>
            <a:off x="5523235" y="1507257"/>
            <a:ext cx="1408063" cy="17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Phase 4 — Model</a:t>
            </a:r>
            <a:endParaRPr lang="en-US" sz="1100" dirty="0"/>
          </a:p>
        </p:txBody>
      </p:sp>
      <p:sp>
        <p:nvSpPr>
          <p:cNvPr id="21" name="Text 9"/>
          <p:cNvSpPr/>
          <p:nvPr/>
        </p:nvSpPr>
        <p:spPr>
          <a:xfrm>
            <a:off x="5489377" y="1740694"/>
            <a:ext cx="1475780" cy="344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SQL KPIs and views for downstream BI</a:t>
            </a:r>
            <a:endParaRPr lang="en-US" sz="900" dirty="0"/>
          </a:p>
        </p:txBody>
      </p:sp>
      <p:sp>
        <p:nvSpPr>
          <p:cNvPr id="22" name="Text 10"/>
          <p:cNvSpPr/>
          <p:nvPr/>
        </p:nvSpPr>
        <p:spPr>
          <a:xfrm>
            <a:off x="7178501" y="2187327"/>
            <a:ext cx="1408063" cy="17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Phase 5 — Visualize</a:t>
            </a:r>
            <a:endParaRPr lang="en-US" sz="1100" dirty="0"/>
          </a:p>
        </p:txBody>
      </p:sp>
      <p:sp>
        <p:nvSpPr>
          <p:cNvPr id="23" name="Text 11"/>
          <p:cNvSpPr/>
          <p:nvPr/>
        </p:nvSpPr>
        <p:spPr>
          <a:xfrm>
            <a:off x="7144643" y="2420764"/>
            <a:ext cx="1475780" cy="344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Power BI: DAX measures, slicers, interactive reports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7273" y="259333"/>
            <a:ext cx="2657326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KPIs Analyzed</a:t>
            </a:r>
            <a:endParaRPr lang="en-US" sz="1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273" y="687735"/>
            <a:ext cx="4130650" cy="413065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73" y="687735"/>
            <a:ext cx="4130650" cy="41306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690839" y="2141413"/>
            <a:ext cx="1557263" cy="137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Core Metrics</a:t>
            </a:r>
            <a:endParaRPr lang="en-US" sz="850" dirty="0"/>
          </a:p>
        </p:txBody>
      </p:sp>
      <p:sp>
        <p:nvSpPr>
          <p:cNvPr id="6" name="Text 2"/>
          <p:cNvSpPr/>
          <p:nvPr/>
        </p:nvSpPr>
        <p:spPr>
          <a:xfrm>
            <a:off x="4690839" y="2337271"/>
            <a:ext cx="4130650" cy="4055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08000"/>
              </a:lnSpc>
              <a:buSzPct val="100000"/>
              <a:buChar char="•"/>
            </a:pPr>
            <a:r>
              <a:rPr lang="en-US" sz="7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Occupancy %</a:t>
            </a:r>
            <a:pPr algn="l" marL="342900" indent="-342900">
              <a:lnSpc>
                <a:spcPct val="108000"/>
              </a:lnSpc>
              <a:buSzPct val="100000"/>
              <a:buChar char="•"/>
            </a:pPr>
            <a:r>
              <a:rPr lang="en-US" sz="7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= successful bookings ÷ capacity</a:t>
            </a:r>
            <a:endParaRPr lang="en-US" sz="700" dirty="0"/>
          </a:p>
          <a:p>
            <a:pPr algn="l" marL="342900" indent="-342900">
              <a:lnSpc>
                <a:spcPct val="108000"/>
              </a:lnSpc>
              <a:buSzPct val="100000"/>
              <a:buChar char="•"/>
            </a:pPr>
            <a:r>
              <a:rPr lang="en-US" sz="7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ADR</a:t>
            </a:r>
            <a:pPr algn="l" marL="342900" indent="-342900">
              <a:lnSpc>
                <a:spcPct val="108000"/>
              </a:lnSpc>
              <a:buSzPct val="100000"/>
              <a:buChar char="•"/>
            </a:pPr>
            <a:r>
              <a:rPr lang="en-US" sz="7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= revenue realized ÷ rooms sold (checked out only)</a:t>
            </a:r>
            <a:endParaRPr lang="en-US" sz="700" dirty="0"/>
          </a:p>
          <a:p>
            <a:pPr algn="l" marL="342900" indent="-342900">
              <a:lnSpc>
                <a:spcPct val="108000"/>
              </a:lnSpc>
              <a:buSzPct val="100000"/>
              <a:buChar char="•"/>
            </a:pPr>
            <a:r>
              <a:rPr lang="en-US" sz="7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RevPAR</a:t>
            </a:r>
            <a:pPr algn="l" marL="342900" indent="-342900">
              <a:lnSpc>
                <a:spcPct val="108000"/>
              </a:lnSpc>
              <a:buSzPct val="100000"/>
              <a:buChar char="•"/>
            </a:pPr>
            <a:r>
              <a:rPr lang="en-US" sz="7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= revenue realized ÷ capacity</a:t>
            </a:r>
            <a:endParaRPr lang="en-US" sz="700" dirty="0"/>
          </a:p>
        </p:txBody>
      </p:sp>
      <p:sp>
        <p:nvSpPr>
          <p:cNvPr id="7" name="Text 3"/>
          <p:cNvSpPr/>
          <p:nvPr/>
        </p:nvSpPr>
        <p:spPr>
          <a:xfrm>
            <a:off x="4690839" y="2801243"/>
            <a:ext cx="1557263" cy="137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Supporting Metrics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4690839" y="2997101"/>
            <a:ext cx="4130650" cy="4055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08000"/>
              </a:lnSpc>
              <a:buSzPct val="100000"/>
              <a:buChar char="•"/>
            </a:pPr>
            <a:r>
              <a:rPr lang="en-US" sz="7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Cancellation rate and realisation %</a:t>
            </a:r>
            <a:endParaRPr lang="en-US" sz="700" dirty="0"/>
          </a:p>
          <a:p>
            <a:pPr algn="l" marL="342900" indent="-342900">
              <a:lnSpc>
                <a:spcPct val="108000"/>
              </a:lnSpc>
              <a:buSzPct val="100000"/>
              <a:buChar char="•"/>
            </a:pPr>
            <a:r>
              <a:rPr lang="en-US" sz="7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Platform and city-level revenue breakdown</a:t>
            </a:r>
            <a:endParaRPr lang="en-US" sz="700" dirty="0"/>
          </a:p>
          <a:p>
            <a:pPr algn="l" marL="342900" indent="-342900">
              <a:lnSpc>
                <a:spcPct val="108000"/>
              </a:lnSpc>
              <a:buSzPct val="100000"/>
              <a:buChar char="•"/>
            </a:pPr>
            <a:r>
              <a:rPr lang="en-US" sz="7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Average guest ratings by property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76176"/>
            <a:ext cx="3801442" cy="4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Findings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88243" y="1235273"/>
            <a:ext cx="2457078" cy="312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₹1.71B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980703" y="1720230"/>
            <a:ext cx="167208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343424" y="1235273"/>
            <a:ext cx="2457078" cy="469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58%</a:t>
            </a:r>
            <a:endParaRPr lang="en-US" sz="3650" dirty="0"/>
          </a:p>
        </p:txBody>
      </p:sp>
      <p:sp>
        <p:nvSpPr>
          <p:cNvPr id="6" name="Text 4"/>
          <p:cNvSpPr/>
          <p:nvPr/>
        </p:nvSpPr>
        <p:spPr>
          <a:xfrm>
            <a:off x="3735884" y="1876574"/>
            <a:ext cx="167208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Occupancy Rate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98604" y="1235273"/>
            <a:ext cx="2457152" cy="268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₹12,696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491139" y="1675581"/>
            <a:ext cx="167208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65796" y="2426643"/>
            <a:ext cx="2457152" cy="312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₹7,351</a:t>
            </a:r>
            <a:endParaRPr lang="en-US" sz="2450" dirty="0"/>
          </a:p>
        </p:txBody>
      </p:sp>
      <p:sp>
        <p:nvSpPr>
          <p:cNvPr id="10" name="Text 8"/>
          <p:cNvSpPr/>
          <p:nvPr/>
        </p:nvSpPr>
        <p:spPr>
          <a:xfrm>
            <a:off x="2358330" y="2911599"/>
            <a:ext cx="167208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RevPAR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21051" y="2426643"/>
            <a:ext cx="2457078" cy="469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70%</a:t>
            </a:r>
            <a:endParaRPr lang="en-US" sz="3650" dirty="0"/>
          </a:p>
        </p:txBody>
      </p:sp>
      <p:sp>
        <p:nvSpPr>
          <p:cNvPr id="12" name="Text 10"/>
          <p:cNvSpPr/>
          <p:nvPr/>
        </p:nvSpPr>
        <p:spPr>
          <a:xfrm>
            <a:off x="5113511" y="3067943"/>
            <a:ext cx="167208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Realisation 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3577" y="3563764"/>
            <a:ext cx="3022699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Revenue Mix &amp; City Performance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3577" y="3907706"/>
            <a:ext cx="3875038" cy="490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Luxury segment drives </a:t>
            </a:r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62%</a:t>
            </a:r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of revenue vs. Business at 38%</a:t>
            </a:r>
            <a:endParaRPr lang="en-US" sz="110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Mumbai leads with </a:t>
            </a:r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₹552M</a:t>
            </a:r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; Delhi tops ratings at </a:t>
            </a:r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3.78 avg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0147" y="3563764"/>
            <a:ext cx="212928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Risk Signals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0147" y="3907706"/>
            <a:ext cx="3875038" cy="712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Cancellation rates cluster at </a:t>
            </a:r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24–25%</a:t>
            </a:r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across properties</a:t>
            </a:r>
            <a:endParaRPr lang="en-US" sz="110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Occupancy varies materially — roughly </a:t>
            </a:r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mid-40s to mid-60s %</a:t>
            </a:r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by property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07144"/>
            <a:ext cx="3273400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Dashboard Showcase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649834"/>
            <a:ext cx="4128492" cy="23394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81030" y="1198513"/>
            <a:ext cx="2296567" cy="175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What the Dashboard Covers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981030" y="1470199"/>
            <a:ext cx="2644080" cy="2234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KPI cards</a:t>
            </a:r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Revenue, RevPAR, Occupancy, ADR, Realisation %</a:t>
            </a:r>
            <a:endParaRPr lang="en-US" sz="9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Weekday vs. Weekend</a:t>
            </a:r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table for demand pattern analysis</a:t>
            </a:r>
            <a:endParaRPr lang="en-US" sz="9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Category donut</a:t>
            </a:r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Luxury vs. Business revenue split</a:t>
            </a:r>
            <a:endParaRPr lang="en-US" sz="9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Trend lines</a:t>
            </a:r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ADR, RevPAR, Occupancy over time</a:t>
            </a:r>
            <a:endParaRPr lang="en-US" sz="9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Platform realisation</a:t>
            </a:r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combo chart with cancellation overlay</a:t>
            </a:r>
            <a:endParaRPr lang="en-US" sz="9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City/property matrix</a:t>
            </a:r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cancellation % and avg ratings drill-down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981030" y="3812530"/>
            <a:ext cx="2644080" cy="616148"/>
          </a:xfrm>
          <a:prstGeom prst="roundRect">
            <a:avLst>
              <a:gd name="adj" fmla="val 2914"/>
            </a:avLst>
          </a:prstGeom>
          <a:solidFill>
            <a:srgbClr val="022349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0688" y="3981227"/>
            <a:ext cx="149572" cy="11965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69918" y="3938141"/>
            <a:ext cx="2135535" cy="344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Interactive slicers enable filtering by city, property, room type, and date range.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65534"/>
            <a:ext cx="5939358" cy="4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Tech Stack, Learnings &amp; Next Steps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23577" y="1220986"/>
            <a:ext cx="212928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Tools Used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23577" y="1581820"/>
            <a:ext cx="1870025" cy="493216"/>
          </a:xfrm>
          <a:prstGeom prst="roundRect">
            <a:avLst>
              <a:gd name="adj" fmla="val 4323"/>
            </a:avLst>
          </a:prstGeom>
          <a:solidFill>
            <a:srgbClr val="444752"/>
          </a:solidFill>
          <a:ln/>
        </p:spPr>
      </p:sp>
      <p:sp>
        <p:nvSpPr>
          <p:cNvPr id="5" name="Text 3"/>
          <p:cNvSpPr/>
          <p:nvPr/>
        </p:nvSpPr>
        <p:spPr>
          <a:xfrm>
            <a:off x="665708" y="1723951"/>
            <a:ext cx="158576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Pandas &amp; Jupyter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28590" y="1581820"/>
            <a:ext cx="1870025" cy="493216"/>
          </a:xfrm>
          <a:prstGeom prst="roundRect">
            <a:avLst>
              <a:gd name="adj" fmla="val 4323"/>
            </a:avLst>
          </a:prstGeom>
          <a:solidFill>
            <a:srgbClr val="444752"/>
          </a:solidFill>
          <a:ln/>
        </p:spPr>
      </p:sp>
      <p:sp>
        <p:nvSpPr>
          <p:cNvPr id="7" name="Text 5"/>
          <p:cNvSpPr/>
          <p:nvPr/>
        </p:nvSpPr>
        <p:spPr>
          <a:xfrm>
            <a:off x="2670721" y="1723951"/>
            <a:ext cx="158576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PostgreSQL &amp; SQL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23577" y="2210023"/>
            <a:ext cx="1870025" cy="493216"/>
          </a:xfrm>
          <a:prstGeom prst="roundRect">
            <a:avLst>
              <a:gd name="adj" fmla="val 4323"/>
            </a:avLst>
          </a:prstGeom>
          <a:solidFill>
            <a:srgbClr val="444752"/>
          </a:solidFill>
          <a:ln/>
        </p:spPr>
      </p:sp>
      <p:sp>
        <p:nvSpPr>
          <p:cNvPr id="9" name="Text 7"/>
          <p:cNvSpPr/>
          <p:nvPr/>
        </p:nvSpPr>
        <p:spPr>
          <a:xfrm>
            <a:off x="665708" y="2352154"/>
            <a:ext cx="158576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Power BI (DAX)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28590" y="2210023"/>
            <a:ext cx="1870025" cy="493216"/>
          </a:xfrm>
          <a:prstGeom prst="roundRect">
            <a:avLst>
              <a:gd name="adj" fmla="val 4323"/>
            </a:avLst>
          </a:prstGeom>
          <a:solidFill>
            <a:srgbClr val="444752"/>
          </a:solidFill>
          <a:ln/>
        </p:spPr>
      </p:sp>
      <p:sp>
        <p:nvSpPr>
          <p:cNvPr id="11" name="Text 9"/>
          <p:cNvSpPr/>
          <p:nvPr/>
        </p:nvSpPr>
        <p:spPr>
          <a:xfrm>
            <a:off x="2670721" y="2352154"/>
            <a:ext cx="158576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Git / GitHub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0147" y="1220986"/>
            <a:ext cx="212928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Learnings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0147" y="1564928"/>
            <a:ext cx="3875038" cy="759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Star schema design is critical for BI performance</a:t>
            </a:r>
            <a:endParaRPr lang="en-US" sz="110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Date dimension quality directly impacts time-series accuracy</a:t>
            </a:r>
            <a:endParaRPr lang="en-US" sz="110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KPI definitions must be agreed upon before building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0147" y="2459459"/>
            <a:ext cx="212928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0147" y="2803401"/>
            <a:ext cx="3875038" cy="759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Demand forecasting with time-series models</a:t>
            </a:r>
            <a:endParaRPr lang="en-US" sz="110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Cohort-based cancellation analysis</a:t>
            </a:r>
            <a:endParaRPr lang="en-US" sz="110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Automated data refresh pipeline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0147" y="3714824"/>
            <a:ext cx="3875038" cy="811188"/>
          </a:xfrm>
          <a:prstGeom prst="roundRect">
            <a:avLst>
              <a:gd name="adj" fmla="val 2628"/>
            </a:avLst>
          </a:prstGeom>
          <a:solidFill>
            <a:srgbClr val="183A13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278" y="3920430"/>
            <a:ext cx="177626" cy="142131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212035" y="3885307"/>
            <a:ext cx="3271019" cy="448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🔗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View the full project on </a:t>
            </a:r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GitHub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[Monishrajv/Hotel-analytics]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2026-05-25T14:56:29Z</dcterms:created>
  <dcterms:modified xsi:type="dcterms:W3CDTF">2026-05-25T14:56:29Z</dcterms:modified>
</cp:coreProperties>
</file>